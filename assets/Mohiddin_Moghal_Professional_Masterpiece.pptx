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3840480" cy="3840480"/>
          </a:xfrm>
          <a:prstGeom prst="ellipse">
            <a:avLst/>
          </a:prstGeom>
          <a:solidFill>
            <a:srgbClr val="12365F"/>
          </a:solidFill>
          <a:ln w="12700">
            <a:solidFill>
              <a:srgbClr val="1236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188720"/>
            <a:ext cx="4389120" cy="4389120"/>
          </a:xfrm>
          <a:prstGeom prst="ellipse">
            <a:avLst/>
          </a:prstGeom>
          <a:solidFill>
            <a:srgbClr val="0F766E">
              <a:alpha val="85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5029200"/>
            <a:ext cx="3840480" cy="3840480"/>
          </a:xfrm>
          <a:prstGeom prst="ellipse">
            <a:avLst/>
          </a:prstGeom>
          <a:solidFill>
            <a:srgbClr val="D99A16">
              <a:alpha val="60000"/>
            </a:srgbClr>
          </a:solidFill>
          <a:ln w="12700">
            <a:solidFill>
              <a:srgbClr val="D99A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995160" cy="6858000"/>
          </a:xfrm>
          <a:prstGeom prst="rect">
            <a:avLst/>
          </a:prstGeom>
          <a:solidFill>
            <a:srgbClr val="07182D"/>
          </a:solidFill>
          <a:ln w="12700">
            <a:solidFill>
              <a:srgbClr val="0718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-411480"/>
            <a:ext cx="2194560" cy="7772400"/>
          </a:xfrm>
          <a:prstGeom prst="arc">
            <a:avLst/>
          </a:prstGeom>
          <a:noFill/>
          <a:ln w="19050">
            <a:solidFill>
              <a:srgbClr val="123C67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758952"/>
            <a:ext cx="256032" cy="0"/>
          </a:xfrm>
          <a:prstGeom prst="line">
            <a:avLst/>
          </a:prstGeom>
          <a:noFill/>
          <a:ln w="25400">
            <a:solidFill>
              <a:srgbClr val="D99A16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033272" y="6583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CDE1F3"/>
                </a:solidFill>
              </a:rPr>
              <a:t>PROFESSIONAL DESIGN PORTFOLIO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685800" y="1024128"/>
            <a:ext cx="5394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Mohiddin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Moghal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13232" y="2487168"/>
            <a:ext cx="5349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8E5F4"/>
                </a:solidFill>
              </a:rPr>
              <a:t>Oracle VBCS / OIC Developer with a design focus on enterprise workflows, dashboards, integrations, and Agentic AI in OIC.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13232" y="3438144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14365B"/>
          </a:solidFill>
          <a:ln w="8890">
            <a:solidFill>
              <a:srgbClr val="2D5A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11296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F4FF"/>
                </a:solidFill>
              </a:rPr>
              <a:t>VBCS UI Design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2331720" y="3438144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14365B"/>
          </a:solidFill>
          <a:ln w="8890">
            <a:solidFill>
              <a:srgbClr val="2D5A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41448" y="3511296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F4FF"/>
                </a:solidFill>
              </a:rPr>
              <a:t>OIC Workflows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904488" y="3438144"/>
            <a:ext cx="1225296" cy="292608"/>
          </a:xfrm>
          <a:prstGeom prst="roundRect">
            <a:avLst>
              <a:gd name="adj" fmla="val 31250"/>
            </a:avLst>
          </a:prstGeom>
          <a:solidFill>
            <a:srgbClr val="14365B"/>
          </a:solidFill>
          <a:ln w="8890">
            <a:solidFill>
              <a:srgbClr val="2D5A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4216" y="351129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F4FF"/>
                </a:solidFill>
              </a:rPr>
              <a:t>Agentic AI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13232" y="4169664"/>
            <a:ext cx="1627632" cy="804672"/>
          </a:xfrm>
          <a:prstGeom prst="roundRect">
            <a:avLst>
              <a:gd name="adj" fmla="val 15909"/>
            </a:avLst>
          </a:prstGeom>
          <a:solidFill>
            <a:srgbClr val="0D2B4D">
              <a:alpha val="85000"/>
            </a:srgbClr>
          </a:solidFill>
          <a:ln w="8890">
            <a:solidFill>
              <a:srgbClr val="2D5A84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297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" y="46268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BBD2E8"/>
                </a:solidFill>
              </a:rPr>
              <a:t>years VBCS / OIC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2542032" y="4169664"/>
            <a:ext cx="1627632" cy="804672"/>
          </a:xfrm>
          <a:prstGeom prst="roundRect">
            <a:avLst>
              <a:gd name="adj" fmla="val 15909"/>
            </a:avLst>
          </a:prstGeom>
          <a:solidFill>
            <a:srgbClr val="0D2B4D">
              <a:alpha val="85000"/>
            </a:srgbClr>
          </a:solidFill>
          <a:ln w="8890">
            <a:solidFill>
              <a:srgbClr val="2D5A84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4297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79192" y="46268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BBD2E8"/>
                </a:solidFill>
              </a:rPr>
              <a:t>solution areas</a:t>
            </a:r>
            <a:endParaRPr lang="en-US" sz="710" dirty="0"/>
          </a:p>
        </p:txBody>
      </p:sp>
      <p:sp>
        <p:nvSpPr>
          <p:cNvPr id="23" name="Shape 21"/>
          <p:cNvSpPr/>
          <p:nvPr/>
        </p:nvSpPr>
        <p:spPr>
          <a:xfrm>
            <a:off x="4370832" y="4169664"/>
            <a:ext cx="1627632" cy="804672"/>
          </a:xfrm>
          <a:prstGeom prst="roundRect">
            <a:avLst>
              <a:gd name="adj" fmla="val 15909"/>
            </a:avLst>
          </a:prstGeom>
          <a:solidFill>
            <a:srgbClr val="0D2B4D">
              <a:alpha val="85000"/>
            </a:srgbClr>
          </a:solidFill>
          <a:ln w="8890">
            <a:solidFill>
              <a:srgbClr val="2D5A8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4297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07992" y="46268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BBD2E8"/>
                </a:solidFill>
              </a:rPr>
              <a:t>Agentic AI in OIC</a:t>
            </a:r>
            <a:endParaRPr lang="en-US" sz="710" dirty="0"/>
          </a:p>
        </p:txBody>
      </p:sp>
      <p:sp>
        <p:nvSpPr>
          <p:cNvPr id="26" name="Text 24"/>
          <p:cNvSpPr/>
          <p:nvPr/>
        </p:nvSpPr>
        <p:spPr>
          <a:xfrm>
            <a:off x="713232" y="58704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BD2E8"/>
                </a:solidFill>
              </a:rPr>
              <a:t>mohiddinmughal786@gmail.com | +91 7330160274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7342632" y="566928"/>
            <a:ext cx="3977640" cy="5413248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 w="12700">
            <a:solidFill>
              <a:srgbClr val="DCE5EF">
                <a:alpha val="8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sp>
      <p:pic>
        <p:nvPicPr>
          <p:cNvPr id="28" name="Image 0" descr="/mnt/data/pro_photo_work/assets/profile-photo-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749808"/>
            <a:ext cx="3630168" cy="4535424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662672" y="5413248"/>
            <a:ext cx="3337560" cy="310896"/>
          </a:xfrm>
          <a:prstGeom prst="roundRect">
            <a:avLst>
              <a:gd name="adj" fmla="val 35294"/>
            </a:avLst>
          </a:prstGeom>
          <a:solidFill>
            <a:srgbClr val="F8FAFC"/>
          </a:solidFill>
          <a:ln w="12700">
            <a:solidFill>
              <a:srgbClr val="DCE5EF">
                <a:alpha val="8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5504688"/>
            <a:ext cx="3108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Profile photo included - replace in website assets anytime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21476E">
                <a:alpha val="8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7D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7D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005840"/>
            <a:ext cx="4297680" cy="4297680"/>
          </a:xfrm>
          <a:prstGeom prst="ellipse">
            <a:avLst/>
          </a:prstGeom>
          <a:solidFill>
            <a:srgbClr val="FFF4D6">
              <a:alpha val="92000"/>
            </a:srgbClr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188720"/>
            <a:ext cx="4206240" cy="4206240"/>
          </a:xfrm>
          <a:prstGeom prst="ellipse">
            <a:avLst/>
          </a:prstGeom>
          <a:solidFill>
            <a:srgbClr val="EAF2FF">
              <a:alpha val="98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576072"/>
            <a:ext cx="25603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69264" y="475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</a:rPr>
              <a:t>PROFILE SNAPSHOT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82D"/>
                </a:solidFill>
              </a:rPr>
              <a:t>Design clarity backed by technical execution.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 translate complex Oracle processes into usable screens, workflow states, automation patterns, and support-ready dashboards.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1874520"/>
            <a:ext cx="2834640" cy="41605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9000"/>
              </a:srgbClr>
            </a:outerShdw>
          </a:effectLst>
        </p:spPr>
      </p:sp>
      <p:pic>
        <p:nvPicPr>
          <p:cNvPr id="13" name="Image 0" descr="/mnt/data/pro_photo_work/assets/profile-photo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157984"/>
            <a:ext cx="1773936" cy="17739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4069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82D"/>
                </a:solidFill>
              </a:rPr>
              <a:t>Mohiddin Moghal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4400" y="44165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Oracle VBCS / OIC Developer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60120" y="47731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Enterprise workflow design | dashboards | integrations | Agentic AI in OIC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914400" y="5513832"/>
            <a:ext cx="685800" cy="292608"/>
          </a:xfrm>
          <a:prstGeom prst="roundRect">
            <a:avLst>
              <a:gd name="adj" fmla="val 31250"/>
            </a:avLst>
          </a:prstGeom>
          <a:solidFill>
            <a:srgbClr val="EAF2FF"/>
          </a:solidFill>
          <a:ln w="8890">
            <a:solidFill>
              <a:srgbClr val="B9D0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5586984"/>
            <a:ext cx="466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4ED8"/>
                </a:solidFill>
              </a:rPr>
              <a:t>Oracle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1682496" y="5513832"/>
            <a:ext cx="777240" cy="292608"/>
          </a:xfrm>
          <a:prstGeom prst="roundRect">
            <a:avLst>
              <a:gd name="adj" fmla="val 31250"/>
            </a:avLst>
          </a:prstGeom>
          <a:solidFill>
            <a:srgbClr val="E8F6F4"/>
          </a:solidFill>
          <a:ln w="8890">
            <a:solidFill>
              <a:srgbClr val="B6DB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92224" y="5586984"/>
            <a:ext cx="557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INFOLOB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2551176" y="5513832"/>
            <a:ext cx="713232" cy="292608"/>
          </a:xfrm>
          <a:prstGeom prst="roundRect">
            <a:avLst>
              <a:gd name="adj" fmla="val 31250"/>
            </a:avLst>
          </a:prstGeom>
          <a:solidFill>
            <a:srgbClr val="FFF4D6"/>
          </a:solidFill>
          <a:ln w="8890">
            <a:solidFill>
              <a:srgbClr val="F1D99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60904" y="558698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99A16"/>
                </a:solidFill>
              </a:rPr>
              <a:t>Etisalat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3886200" y="1865376"/>
            <a:ext cx="3364992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105656" y="210312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05656" y="223113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09160" y="212140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Workflow-first thinking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09160" y="2487168"/>
            <a:ext cx="225856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Approvals, exceptions, timecards, payroll cycles, and role-based steps made easier to follow.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7635240" y="1865376"/>
            <a:ext cx="3364992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854696" y="210312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54696" y="223113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458200" y="212140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Integration visibility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458200" y="2487168"/>
            <a:ext cx="225856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OIC flows designed around triggers, transforms, routing, failure recovery, and audit traces.</a:t>
            </a:r>
            <a:endParaRPr lang="en-US" sz="830" dirty="0"/>
          </a:p>
        </p:txBody>
      </p:sp>
      <p:sp>
        <p:nvSpPr>
          <p:cNvPr id="33" name="Shape 30"/>
          <p:cNvSpPr/>
          <p:nvPr/>
        </p:nvSpPr>
        <p:spPr>
          <a:xfrm>
            <a:off x="3886200" y="3986784"/>
            <a:ext cx="3364992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105656" y="42245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05656" y="4352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709160" y="424281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Data-aware interfaces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709160" y="4608576"/>
            <a:ext cx="225856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Dashboards and pages that expose status, ownership, validation results, and next action.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7635240" y="3986784"/>
            <a:ext cx="3364992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854696" y="42245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54696" y="4352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458200" y="424281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AI-assisted automation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458200" y="4608576"/>
            <a:ext cx="225856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</a:rPr>
              <a:t>Learned and worked on Agentic AI in OIC for governed decision-support automation.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005840"/>
            <a:ext cx="4297680" cy="4297680"/>
          </a:xfrm>
          <a:prstGeom prst="ellipse">
            <a:avLst/>
          </a:prstGeom>
          <a:solidFill>
            <a:srgbClr val="FFF4D6">
              <a:alpha val="92000"/>
            </a:srgbClr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188720"/>
            <a:ext cx="4206240" cy="4206240"/>
          </a:xfrm>
          <a:prstGeom prst="ellipse">
            <a:avLst/>
          </a:prstGeom>
          <a:solidFill>
            <a:srgbClr val="EAF2FF">
              <a:alpha val="98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576072"/>
            <a:ext cx="25603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69264" y="475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</a:rPr>
              <a:t>DESIGN CAPABILITIES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82D"/>
                </a:solidFill>
              </a:rPr>
              <a:t>What I bring to enterprise product design.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balanced mix of UI thinking, integration logic, data understanding, security awareness, and automation discipline.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1874520"/>
            <a:ext cx="3310128" cy="1499616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075688"/>
            <a:ext cx="530352" cy="91440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042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VBCS interface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97480"/>
            <a:ext cx="29077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Responsive pages, reusable components, approval screens, guided forms, and dashboard layouts.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43984" y="1874520"/>
            <a:ext cx="3310128" cy="1499616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2075688"/>
            <a:ext cx="530352" cy="9144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23042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OIC workflow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45152" y="2697480"/>
            <a:ext cx="29077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Trigger, validate, transform, route, observe, recover, and improve patterns for integrations.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74736" y="1874520"/>
            <a:ext cx="3310128" cy="1499616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75904" y="2075688"/>
            <a:ext cx="530352" cy="91440"/>
          </a:xfrm>
          <a:prstGeom prst="roundRect">
            <a:avLst>
              <a:gd name="adj" fmla="val 30000"/>
            </a:avLst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3042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Dashboard thinking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75904" y="2697480"/>
            <a:ext cx="29077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Status-first views for payroll, OTL, billing, exceptions, audits, approvals, and decisions.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3232" y="3813048"/>
            <a:ext cx="3310128" cy="1499616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014216"/>
            <a:ext cx="530352" cy="91440"/>
          </a:xfrm>
          <a:prstGeom prst="roundRect">
            <a:avLst>
              <a:gd name="adj" fmla="val 30000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24281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Security journey design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636008"/>
            <a:ext cx="29077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Page restrictions, role-aware access, approval tiers, and controlled enterprise experiences.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43984" y="3813048"/>
            <a:ext cx="3310128" cy="1499616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45152" y="4014216"/>
            <a:ext cx="530352" cy="9144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424281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Data and API design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45152" y="4636008"/>
            <a:ext cx="29077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Fusion REST APIs, BIP, FBDI, ATP sync, SQL, PL/SQL, APEX ORDS, Postman, and SOAP UI.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74736" y="3813048"/>
            <a:ext cx="3310128" cy="1499616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75904" y="4014216"/>
            <a:ext cx="530352" cy="91440"/>
          </a:xfrm>
          <a:prstGeom prst="roundRect">
            <a:avLst>
              <a:gd name="adj" fmla="val 30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75904" y="424281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Agentic AI in OIC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75904" y="4636008"/>
            <a:ext cx="29077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Agent-style orchestration, AI-assisted decisions, governed actions, escalation, and audit-aware automation.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005840"/>
            <a:ext cx="4297680" cy="4297680"/>
          </a:xfrm>
          <a:prstGeom prst="ellipse">
            <a:avLst/>
          </a:prstGeom>
          <a:solidFill>
            <a:srgbClr val="FFF4D6">
              <a:alpha val="92000"/>
            </a:srgbClr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188720"/>
            <a:ext cx="4206240" cy="4206240"/>
          </a:xfrm>
          <a:prstGeom prst="ellipse">
            <a:avLst/>
          </a:prstGeom>
          <a:solidFill>
            <a:srgbClr val="EAF2FF">
              <a:alpha val="98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576072"/>
            <a:ext cx="25603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69264" y="475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</a:rPr>
              <a:t>SELECTED WORK - ORACLE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82D"/>
                </a:solidFill>
              </a:rPr>
              <a:t>Payroll, OTL, VBCS applications, and database automation.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Projects: KCB, Boutique, QIA, and QSA. Confidential implementation details are omitted.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1874520"/>
            <a:ext cx="2578608" cy="4114800"/>
          </a:xfrm>
          <a:prstGeom prst="roundRect">
            <a:avLst>
              <a:gd name="adj" fmla="val 602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075688"/>
            <a:ext cx="512064" cy="128016"/>
          </a:xfrm>
          <a:prstGeom prst="roundRect">
            <a:avLst>
              <a:gd name="adj" fmla="val 28571"/>
            </a:avLst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774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7182D"/>
                </a:solidFill>
              </a:rPr>
              <a:t>Payroll processing and support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14400" y="3099816"/>
            <a:ext cx="2121408" cy="0"/>
          </a:xfrm>
          <a:prstGeom prst="line">
            <a:avLst/>
          </a:prstGeom>
          <a:noFill/>
          <a:ln w="8890">
            <a:solidFill>
              <a:srgbClr val="D5DF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419856"/>
            <a:ext cx="64008" cy="64008"/>
          </a:xfrm>
          <a:prstGeom prst="ellipse">
            <a:avLst/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35584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Delivered payroll support and enhancements for accurate payroll cycles.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932688" y="4133088"/>
            <a:ext cx="64008" cy="64008"/>
          </a:xfrm>
          <a:prstGeom prst="ellipse">
            <a:avLst/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06908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Implemented payroll rule changes and PL/SQL-based data corrections.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932688" y="4846320"/>
            <a:ext cx="64008" cy="64008"/>
          </a:xfrm>
          <a:prstGeom prst="ellipse">
            <a:avLst/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78231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Built automated OIC scripts for payroll data integrations.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3566160" y="1874520"/>
            <a:ext cx="2578608" cy="4114800"/>
          </a:xfrm>
          <a:prstGeom prst="roundRect">
            <a:avLst>
              <a:gd name="adj" fmla="val 602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67328" y="2075688"/>
            <a:ext cx="512064" cy="128016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23774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7182D"/>
                </a:solidFill>
              </a:rPr>
              <a:t>OTL module maintenance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767328" y="3099816"/>
            <a:ext cx="2121408" cy="0"/>
          </a:xfrm>
          <a:prstGeom prst="line">
            <a:avLst/>
          </a:prstGeom>
          <a:noFill/>
          <a:ln w="8890">
            <a:solidFill>
              <a:srgbClr val="D5DF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5616" y="341985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50208" y="335584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Managed OTL configuration, issue resolution, and timecard validations.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3785616" y="4133088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50208" y="406908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Integrated OTL data with payroll systems using OIC workflows.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3785616" y="484632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50208" y="478231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Designed compliance-aware validation and support flows.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419088" y="1874520"/>
            <a:ext cx="2578608" cy="4114800"/>
          </a:xfrm>
          <a:prstGeom prst="roundRect">
            <a:avLst>
              <a:gd name="adj" fmla="val 602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20256" y="2075688"/>
            <a:ext cx="512064" cy="128016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23774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7182D"/>
                </a:solidFill>
              </a:rPr>
              <a:t>VBCS application development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6620256" y="3099816"/>
            <a:ext cx="2121408" cy="0"/>
          </a:xfrm>
          <a:prstGeom prst="line">
            <a:avLst/>
          </a:prstGeom>
          <a:noFill/>
          <a:ln w="8890">
            <a:solidFill>
              <a:srgbClr val="D5DF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38544" y="3419856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35584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Designed VBCS applications for internal tools and payroll/OTL dashboards.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6638544" y="4133088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406908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Created responsive UI components for approvals and submissions.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6638544" y="4846320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478231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Supported real-time data visualization and user-focused workflows.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9272016" y="1874520"/>
            <a:ext cx="2578608" cy="4114800"/>
          </a:xfrm>
          <a:prstGeom prst="roundRect">
            <a:avLst>
              <a:gd name="adj" fmla="val 6028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473184" y="2075688"/>
            <a:ext cx="512064" cy="128016"/>
          </a:xfrm>
          <a:prstGeom prst="roundRect">
            <a:avLst>
              <a:gd name="adj" fmla="val 2857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73184" y="2377440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7182D"/>
                </a:solidFill>
              </a:rPr>
              <a:t>Database development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9473184" y="3099816"/>
            <a:ext cx="2121408" cy="0"/>
          </a:xfrm>
          <a:prstGeom prst="line">
            <a:avLst/>
          </a:prstGeom>
          <a:noFill/>
          <a:ln w="8890">
            <a:solidFill>
              <a:srgbClr val="D5DF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91472" y="3419856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56064" y="335584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Created PL/SQL scripts, packages, and procedures for automation.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9491472" y="4133088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56064" y="4069080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Generated audit and compliance reports with SQL and OIC pipelines.</a:t>
            </a:r>
            <a:endParaRPr lang="en-US" sz="810" dirty="0"/>
          </a:p>
        </p:txBody>
      </p:sp>
      <p:sp>
        <p:nvSpPr>
          <p:cNvPr id="50" name="Shape 48"/>
          <p:cNvSpPr/>
          <p:nvPr/>
        </p:nvSpPr>
        <p:spPr>
          <a:xfrm>
            <a:off x="9491472" y="4846320"/>
            <a:ext cx="64008" cy="640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56064" y="4782312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E293B"/>
                </a:solidFill>
              </a:rPr>
              <a:t>Improved process traceability and correction readiness.</a:t>
            </a:r>
            <a:endParaRPr lang="en-US" sz="8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005840"/>
            <a:ext cx="4297680" cy="4297680"/>
          </a:xfrm>
          <a:prstGeom prst="ellipse">
            <a:avLst/>
          </a:prstGeom>
          <a:solidFill>
            <a:srgbClr val="FFF4D6">
              <a:alpha val="92000"/>
            </a:srgbClr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188720"/>
            <a:ext cx="4206240" cy="4206240"/>
          </a:xfrm>
          <a:prstGeom prst="ellipse">
            <a:avLst/>
          </a:prstGeom>
          <a:solidFill>
            <a:srgbClr val="EAF2FF">
              <a:alpha val="98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576072"/>
            <a:ext cx="25603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69264" y="475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</a:rPr>
              <a:t>SELECTED WORK - INFOLOB / ETISALAT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82D"/>
                </a:solidFill>
              </a:rPr>
              <a:t>Subscription management, data sync, billing, CDR automation, and security workflow design.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portfolio view of the outcomes behind the VBCS/OIC, SQL, PL/SQL, and APEX ORDS work.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1874520"/>
            <a:ext cx="331012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075688"/>
            <a:ext cx="530352" cy="91440"/>
          </a:xfrm>
          <a:prstGeom prst="roundRect">
            <a:avLst>
              <a:gd name="adj" fmla="val 3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3042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Custom Subscription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97480"/>
            <a:ext cx="2907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Tailored Oracle Fusion REST API application for subscription handling tasks and operational control.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43984" y="1874520"/>
            <a:ext cx="331012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2075688"/>
            <a:ext cx="530352" cy="9144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23042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FBDI Customer Onboarding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45152" y="2697480"/>
            <a:ext cx="2907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Efficient customer data imports into Oracle Fusion with PAAS-scale reliability and accuracy.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74736" y="1874520"/>
            <a:ext cx="331012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75904" y="2075688"/>
            <a:ext cx="530352" cy="9144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23042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ATP Data Sync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75904" y="2697480"/>
            <a:ext cx="2907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Real-time ATP sync from Oracle Fusion to ATP database through BIP-based data transfer.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87752" y="4005072"/>
            <a:ext cx="331012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88920" y="4206240"/>
            <a:ext cx="530352" cy="91440"/>
          </a:xfrm>
          <a:prstGeom prst="roundRect">
            <a:avLst>
              <a:gd name="adj" fmla="val 30000"/>
            </a:avLst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443484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Subscription Billing 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4828032"/>
            <a:ext cx="2907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Monthly, quarterly, one-time, and usage-based billing design aligned to subscription terms.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18504" y="4005072"/>
            <a:ext cx="3310128" cy="1517904"/>
          </a:xfrm>
          <a:prstGeom prst="roundRect">
            <a:avLst>
              <a:gd name="adj" fmla="val 8434"/>
            </a:avLst>
          </a:prstGeom>
          <a:solidFill>
            <a:srgbClr val="FFFFFF"/>
          </a:solidFill>
          <a:ln w="9525">
            <a:solidFill>
              <a:srgbClr val="DCE5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9672" y="4206240"/>
            <a:ext cx="530352" cy="91440"/>
          </a:xfrm>
          <a:prstGeom prst="roundRect">
            <a:avLst>
              <a:gd name="adj" fmla="val 30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443484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82D"/>
                </a:solidFill>
              </a:rPr>
              <a:t>CDR Automation and Security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9672" y="4828032"/>
            <a:ext cx="29077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CSV-driven usage billing automation, page restrictions, and two-tier approval workflow design.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3840480" cy="3840480"/>
          </a:xfrm>
          <a:prstGeom prst="ellipse">
            <a:avLst/>
          </a:prstGeom>
          <a:solidFill>
            <a:srgbClr val="12365F"/>
          </a:solidFill>
          <a:ln w="12700">
            <a:solidFill>
              <a:srgbClr val="1236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188720"/>
            <a:ext cx="4389120" cy="4389120"/>
          </a:xfrm>
          <a:prstGeom prst="ellipse">
            <a:avLst/>
          </a:prstGeom>
          <a:solidFill>
            <a:srgbClr val="0F766E">
              <a:alpha val="85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5029200"/>
            <a:ext cx="3840480" cy="3840480"/>
          </a:xfrm>
          <a:prstGeom prst="ellipse">
            <a:avLst/>
          </a:prstGeom>
          <a:solidFill>
            <a:srgbClr val="D99A16">
              <a:alpha val="60000"/>
            </a:srgbClr>
          </a:solidFill>
          <a:ln w="12700">
            <a:solidFill>
              <a:srgbClr val="D99A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576072"/>
            <a:ext cx="256032" cy="0"/>
          </a:xfrm>
          <a:prstGeom prst="line">
            <a:avLst/>
          </a:prstGeom>
          <a:noFill/>
          <a:ln w="25400">
            <a:solidFill>
              <a:srgbClr val="D99A16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69264" y="475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CDE1F3"/>
                </a:solidFill>
              </a:rPr>
              <a:t>AGENTIC AI IN OIC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Learned and worked on agent-style orchestration in Oracle Integration Cloud.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5F4"/>
                </a:solidFill>
              </a:rPr>
              <a:t>How AI-assisted automation can observe events, reason about context, call integrations, and escalate safely.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21476E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7D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7D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1920240"/>
            <a:ext cx="10698480" cy="3493008"/>
          </a:xfrm>
          <a:prstGeom prst="roundRect">
            <a:avLst>
              <a:gd name="adj" fmla="val 6283"/>
            </a:avLst>
          </a:prstGeom>
          <a:solidFill>
            <a:srgbClr val="0D2B4D">
              <a:alpha val="96000"/>
            </a:srgbClr>
          </a:solidFill>
          <a:ln w="12700">
            <a:solidFill>
              <a:srgbClr val="315B82">
                <a:alpha val="88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07008" y="2432304"/>
            <a:ext cx="2057400" cy="1481328"/>
          </a:xfrm>
          <a:prstGeom prst="roundRect">
            <a:avLst>
              <a:gd name="adj" fmla="val 11111"/>
            </a:avLst>
          </a:prstGeom>
          <a:solidFill>
            <a:srgbClr val="14365B"/>
          </a:solidFill>
          <a:ln w="12700">
            <a:solidFill>
              <a:srgbClr val="4A76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8176" y="2633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9A16"/>
                </a:solidFill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08176" y="2916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Observe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08176" y="33101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DE1F3"/>
                </a:solidFill>
              </a:rPr>
              <a:t>Events, logs, payloads, exceptions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364992" y="2898648"/>
            <a:ext cx="310896" cy="310896"/>
          </a:xfrm>
          <a:prstGeom prst="chevron">
            <a:avLst/>
          </a:prstGeom>
          <a:solidFill>
            <a:srgbClr val="6A8CAF">
              <a:alpha val="85000"/>
            </a:srgbClr>
          </a:solidFill>
          <a:ln w="12700">
            <a:solidFill>
              <a:srgbClr val="6A8CAF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21608" y="2432304"/>
            <a:ext cx="2057400" cy="1481328"/>
          </a:xfrm>
          <a:prstGeom prst="roundRect">
            <a:avLst>
              <a:gd name="adj" fmla="val 11111"/>
            </a:avLst>
          </a:prstGeom>
          <a:solidFill>
            <a:srgbClr val="14365B"/>
          </a:solidFill>
          <a:ln w="12700">
            <a:solidFill>
              <a:srgbClr val="4A76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22776" y="2633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22776" y="2916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Reason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22776" y="33101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DE1F3"/>
                </a:solidFill>
              </a:rPr>
              <a:t>Classify, prioritize, recommend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879592" y="2898648"/>
            <a:ext cx="310896" cy="310896"/>
          </a:xfrm>
          <a:prstGeom prst="chevron">
            <a:avLst/>
          </a:prstGeom>
          <a:solidFill>
            <a:srgbClr val="6A8CAF">
              <a:alpha val="85000"/>
            </a:srgbClr>
          </a:solidFill>
          <a:ln w="12700">
            <a:solidFill>
              <a:srgbClr val="6A8CAF">
                <a:alpha val="8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2432304"/>
            <a:ext cx="2057400" cy="1481328"/>
          </a:xfrm>
          <a:prstGeom prst="roundRect">
            <a:avLst>
              <a:gd name="adj" fmla="val 11111"/>
            </a:avLst>
          </a:prstGeom>
          <a:solidFill>
            <a:srgbClr val="14365B"/>
          </a:solidFill>
          <a:ln w="12700">
            <a:solidFill>
              <a:srgbClr val="4A76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2633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37376" y="2916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37376" y="33101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DE1F3"/>
                </a:solidFill>
              </a:rPr>
              <a:t>OIC flows, APIs, approvals, alerts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8394192" y="2898648"/>
            <a:ext cx="310896" cy="310896"/>
          </a:xfrm>
          <a:prstGeom prst="chevron">
            <a:avLst/>
          </a:prstGeom>
          <a:solidFill>
            <a:srgbClr val="6A8CAF">
              <a:alpha val="85000"/>
            </a:srgbClr>
          </a:solidFill>
          <a:ln w="12700">
            <a:solidFill>
              <a:srgbClr val="6A8CAF">
                <a:alpha val="8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50808" y="2432304"/>
            <a:ext cx="2057400" cy="1481328"/>
          </a:xfrm>
          <a:prstGeom prst="roundRect">
            <a:avLst>
              <a:gd name="adj" fmla="val 11111"/>
            </a:avLst>
          </a:prstGeom>
          <a:solidFill>
            <a:srgbClr val="14365B"/>
          </a:solidFill>
          <a:ln w="12700">
            <a:solidFill>
              <a:srgbClr val="4A769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51976" y="2633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51976" y="29169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51976" y="33101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DE1F3"/>
                </a:solidFill>
              </a:rPr>
              <a:t>Audit, escalation, safe handoff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1078992" y="4498848"/>
            <a:ext cx="64008" cy="64008"/>
          </a:xfrm>
          <a:prstGeom prst="ellipse">
            <a:avLst/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44348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F4"/>
                </a:solidFill>
              </a:rPr>
              <a:t>Use AI for classification, recommendations, exception triage, and guided follow-up.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078992" y="4818888"/>
            <a:ext cx="64008" cy="64008"/>
          </a:xfrm>
          <a:prstGeom prst="ellipse">
            <a:avLst/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47548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F4"/>
                </a:solidFill>
              </a:rPr>
              <a:t>Keep humans in the loop for approvals, risk-sensitive decisions, and final accountability.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078992" y="5138928"/>
            <a:ext cx="64008" cy="64008"/>
          </a:xfrm>
          <a:prstGeom prst="ellipse">
            <a:avLst/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50749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5F4"/>
                </a:solidFill>
              </a:rPr>
              <a:t>Design with governance: audit trails, escalation, policy boundaries, and traceable actions.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005840"/>
            <a:ext cx="4297680" cy="4297680"/>
          </a:xfrm>
          <a:prstGeom prst="ellipse">
            <a:avLst/>
          </a:prstGeom>
          <a:solidFill>
            <a:srgbClr val="FFF4D6">
              <a:alpha val="92000"/>
            </a:srgbClr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188720"/>
            <a:ext cx="4206240" cy="4206240"/>
          </a:xfrm>
          <a:prstGeom prst="ellipse">
            <a:avLst/>
          </a:prstGeom>
          <a:solidFill>
            <a:srgbClr val="EAF2FF">
              <a:alpha val="98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576072"/>
            <a:ext cx="25603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69264" y="475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</a:rPr>
              <a:t>DESIGN SYSTEM MINDSET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82D"/>
                </a:solidFill>
              </a:rPr>
              <a:t>From screens to reliable enterprise experiences.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clean visual structure helps users understand where they are, what changed, and what action is needed next.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07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1883664"/>
            <a:ext cx="5029200" cy="39776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15568" y="2176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82D"/>
                </a:solidFill>
              </a:rPr>
              <a:t>User experience layer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15568" y="272491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85292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00784" y="27340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82D"/>
                </a:solidFill>
              </a:rPr>
              <a:t>Screens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00784" y="3035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Responsive views, guided forms, approval panels, and dashboard pages.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15568" y="361188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7398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00784" y="36210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82D"/>
                </a:solidFill>
              </a:rPr>
              <a:t>States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00784" y="39227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Draft, submitted, approved, rejected, synced, failed, corrected, and completed.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115568" y="449884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6268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00784" y="4507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82D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700784" y="48097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Business-rule checks, timecard accuracy, billing terms, and data-quality flags.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27648" y="1883664"/>
            <a:ext cx="5029200" cy="3977640"/>
          </a:xfrm>
          <a:prstGeom prst="roundRect">
            <a:avLst>
              <a:gd name="adj" fmla="val 505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0256" y="21762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82D"/>
                </a:solidFill>
              </a:rPr>
              <a:t>System reliability layer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620256" y="272491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285292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05472" y="2734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82D"/>
                </a:solidFill>
              </a:rPr>
              <a:t>Integration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05472" y="3035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Triggers, transformations, routing, payload mapping, and recovery paths.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20256" y="3611880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0256" y="37398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05472" y="36210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82D"/>
                </a:solidFill>
              </a:rPr>
              <a:t>Observability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05472" y="39227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Logs, statuses, audits, reports, exception handling, and support traces.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20256" y="449884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0256" y="46268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05472" y="4507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7182D"/>
                </a:solidFill>
              </a:rPr>
              <a:t>Governance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05472" y="48097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Role restrictions, two-tier approvals, policy boundaries, and safe AI escalation.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005840"/>
            <a:ext cx="4297680" cy="4297680"/>
          </a:xfrm>
          <a:prstGeom prst="ellipse">
            <a:avLst/>
          </a:prstGeom>
          <a:solidFill>
            <a:srgbClr val="FFF4D6">
              <a:alpha val="92000"/>
            </a:srgbClr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188720"/>
            <a:ext cx="4206240" cy="4206240"/>
          </a:xfrm>
          <a:prstGeom prst="ellipse">
            <a:avLst/>
          </a:prstGeom>
          <a:solidFill>
            <a:srgbClr val="EAF2FF">
              <a:alpha val="98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576072"/>
            <a:ext cx="25603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69264" y="475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</a:rPr>
              <a:t>TECHNOLOGY AND TOOLSET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82D"/>
                </a:solidFill>
              </a:rPr>
              <a:t>Technical depth that supports better design decisions.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portfolio highlights design skill, while the stack shows the implementation depth behind the work.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DC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1847088"/>
            <a:ext cx="5047488" cy="1572768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2075688"/>
            <a:ext cx="201168" cy="1024128"/>
          </a:xfrm>
          <a:prstGeom prst="roundRect">
            <a:avLst>
              <a:gd name="adj" fmla="val 3636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9304" y="20665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82D"/>
                </a:solidFill>
              </a:rPr>
              <a:t>Oracle platform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9304" y="25420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Oracle Integration Cloud (OIC)  |  Oracle VBCS  |  Oracle Fusion REST APIs  |  APEX ORDS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6336792" y="1847088"/>
            <a:ext cx="5047488" cy="1572768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2075688"/>
            <a:ext cx="201168" cy="1024128"/>
          </a:xfrm>
          <a:prstGeom prst="roundRect">
            <a:avLst>
              <a:gd name="adj" fmla="val 3636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20665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82D"/>
                </a:solidFill>
              </a:rPr>
              <a:t>Data and backend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12864" y="25420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SQL and PL/SQL  |  Packages and procedures  |  BIP reports  |  ATP database sync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713232" y="3840480"/>
            <a:ext cx="5047488" cy="1572768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069080"/>
            <a:ext cx="201168" cy="1024128"/>
          </a:xfrm>
          <a:prstGeom prst="roundRect">
            <a:avLst>
              <a:gd name="adj" fmla="val 36364"/>
            </a:avLst>
          </a:prstGeom>
          <a:solidFill>
            <a:srgbClr val="D99A16"/>
          </a:solidFill>
          <a:ln w="12700">
            <a:solidFill>
              <a:srgbClr val="D99A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9304" y="4059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82D"/>
                </a:solidFill>
              </a:rPr>
              <a:t>Testing and APIs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89304" y="453542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Postman  |  SOAP UI  |  Payload validation  |  Integration debugging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336792" y="3840480"/>
            <a:ext cx="5047488" cy="1572768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4069080"/>
            <a:ext cx="201168" cy="1024128"/>
          </a:xfrm>
          <a:prstGeom prst="roundRect">
            <a:avLst>
              <a:gd name="adj" fmla="val 36364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4059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182D"/>
                </a:solidFill>
              </a:rPr>
              <a:t>AI and learning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12864" y="453542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Oracle Generative AI  |  AI Vector Search  |  Python - NLP using NLTK  |  Agentic AI in OIC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005840"/>
            <a:ext cx="4297680" cy="4297680"/>
          </a:xfrm>
          <a:prstGeom prst="ellipse">
            <a:avLst/>
          </a:prstGeom>
          <a:solidFill>
            <a:srgbClr val="FFF4D6">
              <a:alpha val="92000"/>
            </a:srgbClr>
          </a:solidFill>
          <a:ln w="12700">
            <a:solidFill>
              <a:srgbClr val="FFF4D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188720"/>
            <a:ext cx="4206240" cy="4206240"/>
          </a:xfrm>
          <a:prstGeom prst="ellipse">
            <a:avLst/>
          </a:prstGeom>
          <a:solidFill>
            <a:srgbClr val="EAF2FF">
              <a:alpha val="98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576072"/>
            <a:ext cx="256032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69264" y="475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766E"/>
                </a:solidFill>
              </a:rPr>
              <a:t>CREDENTIALS AND EXPERIENCE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621792" y="7498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82D"/>
                </a:solidFill>
              </a:rPr>
              <a:t>A compact view of certifications, employment history, and ongoing learning.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09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1700784"/>
            <a:ext cx="5166360" cy="4407408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993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82D"/>
                </a:solidFill>
              </a:rPr>
              <a:t>Certifications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24128" y="260604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5420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Oracle Certified Application Integration Professional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024128" y="301752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9535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Oracle Redwood Application Associate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024128" y="342900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3649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Oracle Generative AI Professional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024128" y="384048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7764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Oracle AI Vector Search Professional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24128" y="425196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187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Cyber Security certificates - Supraja Technologies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024128" y="4663440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5994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National Cadet Corps - NCC C Certificate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400800" y="1700784"/>
            <a:ext cx="5084064" cy="4407408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93408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82D"/>
                </a:solidFill>
              </a:rPr>
              <a:t>Employment history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67728" y="2770632"/>
            <a:ext cx="0" cy="2212848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2706624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257860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D4ED8"/>
                </a:solidFill>
              </a:rPr>
              <a:t>Feb 2025 - Present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7269480" y="2862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82D"/>
                </a:solidFill>
              </a:rPr>
              <a:t>Oracle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69480" y="32369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64748B"/>
                </a:solidFill>
              </a:rPr>
              <a:t>VBCS / OIC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858000" y="4032504"/>
            <a:ext cx="219456" cy="21945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39044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F766E"/>
                </a:solidFill>
              </a:rPr>
              <a:t>Sep 2022 - Feb 2025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726948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182D"/>
                </a:solidFill>
              </a:rPr>
              <a:t>INFOLOB Global, Inc.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69480" y="45628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64748B"/>
                </a:solidFill>
              </a:rPr>
              <a:t>VBCS / OIC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6693408" y="5257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Activities: NCC, bug tracking / bug hunting, creative photography, learning, research, and development in Generative AI.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3840480" cy="3840480"/>
          </a:xfrm>
          <a:prstGeom prst="ellipse">
            <a:avLst/>
          </a:prstGeom>
          <a:solidFill>
            <a:srgbClr val="12365F"/>
          </a:solidFill>
          <a:ln w="12700">
            <a:solidFill>
              <a:srgbClr val="1236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188720"/>
            <a:ext cx="4389120" cy="4389120"/>
          </a:xfrm>
          <a:prstGeom prst="ellipse">
            <a:avLst/>
          </a:prstGeom>
          <a:solidFill>
            <a:srgbClr val="0F766E">
              <a:alpha val="85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5029200"/>
            <a:ext cx="3840480" cy="3840480"/>
          </a:xfrm>
          <a:prstGeom prst="ellipse">
            <a:avLst/>
          </a:prstGeom>
          <a:solidFill>
            <a:srgbClr val="D99A16">
              <a:alpha val="60000"/>
            </a:srgbClr>
          </a:solidFill>
          <a:ln w="12700">
            <a:solidFill>
              <a:srgbClr val="D99A1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749808"/>
            <a:ext cx="10789920" cy="5248656"/>
          </a:xfrm>
          <a:prstGeom prst="roundRect">
            <a:avLst>
              <a:gd name="adj" fmla="val 4878"/>
            </a:avLst>
          </a:prstGeom>
          <a:solidFill>
            <a:srgbClr val="0D2B4D">
              <a:alpha val="98000"/>
            </a:srgbClr>
          </a:solidFill>
          <a:ln w="12700">
            <a:solidFill>
              <a:srgbClr val="315B82">
                <a:alpha val="88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0000"/>
              </a:srgbClr>
            </a:outerShdw>
          </a:effectLst>
        </p:spPr>
      </p:sp>
      <p:pic>
        <p:nvPicPr>
          <p:cNvPr id="6" name="Image 0" descr="/mnt/data/pro_photo_work/assets/profile-photo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17320"/>
            <a:ext cx="210312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13632" y="1344168"/>
            <a:ext cx="256032" cy="0"/>
          </a:xfrm>
          <a:prstGeom prst="line">
            <a:avLst/>
          </a:prstGeom>
          <a:noFill/>
          <a:ln w="25400">
            <a:solidFill>
              <a:srgbClr val="D99A16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4261104" y="12435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CDE1F3"/>
                </a:solidFill>
              </a:rPr>
              <a:t>THANK YOU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3913632" y="15727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Let us build clear, reliable enterprise experiences.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931920" y="248716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8E5F4"/>
                </a:solidFill>
              </a:rPr>
              <a:t>I bring design thinking to Oracle VBCS and OIC implementation - from interface clarity and integration visibility to AI-assisted workflow automation.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13632" y="3401568"/>
            <a:ext cx="2788920" cy="566928"/>
          </a:xfrm>
          <a:prstGeom prst="roundRect">
            <a:avLst>
              <a:gd name="adj" fmla="val 25806"/>
            </a:avLst>
          </a:prstGeom>
          <a:solidFill>
            <a:srgbClr val="F8FAFC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96512" y="3611880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7182D"/>
                </a:solidFill>
              </a:rPr>
              <a:t>mohiddinmughal786@gmail.com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6903720" y="3401568"/>
            <a:ext cx="1920240" cy="566928"/>
          </a:xfrm>
          <a:prstGeom prst="roundRect">
            <a:avLst>
              <a:gd name="adj" fmla="val 25806"/>
            </a:avLst>
          </a:prstGeom>
          <a:solidFill>
            <a:srgbClr val="F8FAFC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36118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82D"/>
                </a:solidFill>
              </a:rPr>
              <a:t>+91 7330160274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3913632" y="4434840"/>
            <a:ext cx="731520" cy="292608"/>
          </a:xfrm>
          <a:prstGeom prst="roundRect">
            <a:avLst>
              <a:gd name="adj" fmla="val 31250"/>
            </a:avLst>
          </a:prstGeom>
          <a:solidFill>
            <a:srgbClr val="14365B"/>
          </a:solidFill>
          <a:ln w="8890">
            <a:solidFill>
              <a:srgbClr val="2D5A8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450799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F4FF"/>
                </a:solidFill>
              </a:rPr>
              <a:t>VBCS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4791456" y="4434840"/>
            <a:ext cx="640080" cy="292608"/>
          </a:xfrm>
          <a:prstGeom prst="roundRect">
            <a:avLst>
              <a:gd name="adj" fmla="val 31250"/>
            </a:avLst>
          </a:prstGeom>
          <a:solidFill>
            <a:srgbClr val="14365B"/>
          </a:solidFill>
          <a:ln w="8890">
            <a:solidFill>
              <a:srgbClr val="2D5A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01184" y="450799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F4FF"/>
                </a:solidFill>
              </a:rPr>
              <a:t>OIC</a:t>
            </a:r>
            <a:endParaRPr lang="en-US" sz="720" dirty="0"/>
          </a:p>
        </p:txBody>
      </p:sp>
      <p:sp>
        <p:nvSpPr>
          <p:cNvPr id="19" name="Shape 16"/>
          <p:cNvSpPr/>
          <p:nvPr/>
        </p:nvSpPr>
        <p:spPr>
          <a:xfrm>
            <a:off x="5577840" y="4434840"/>
            <a:ext cx="1115568" cy="292608"/>
          </a:xfrm>
          <a:prstGeom prst="roundRect">
            <a:avLst>
              <a:gd name="adj" fmla="val 31250"/>
            </a:avLst>
          </a:prstGeom>
          <a:solidFill>
            <a:srgbClr val="14365B"/>
          </a:solidFill>
          <a:ln w="8890">
            <a:solidFill>
              <a:srgbClr val="2D5A8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87568" y="450799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F4FF"/>
                </a:solidFill>
              </a:rPr>
              <a:t>SQL / PL/SQL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6839712" y="4434840"/>
            <a:ext cx="1572768" cy="292608"/>
          </a:xfrm>
          <a:prstGeom prst="roundRect">
            <a:avLst>
              <a:gd name="adj" fmla="val 31250"/>
            </a:avLst>
          </a:prstGeom>
          <a:solidFill>
            <a:srgbClr val="14365B"/>
          </a:solidFill>
          <a:ln w="8890">
            <a:solidFill>
              <a:srgbClr val="2D5A8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4507992"/>
            <a:ext cx="1353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F4FF"/>
                </a:solidFill>
              </a:rPr>
              <a:t>Agentic AI in OIC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234440" y="4892040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BD2E8"/>
                </a:solidFill>
              </a:rPr>
              <a:t>Photo replacement note: In the website folder, replace assets/profile-photo.jpg with your latest image and keep the same filename.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9525">
            <a:solidFill>
              <a:srgbClr val="21476E">
                <a:alpha val="8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" y="6537960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7D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Mohiddin Moghal | Oracle VBCS / OIC | Design Portfolio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018520" y="6519672"/>
            <a:ext cx="594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7D8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Mohiddin Moghal - Professional Portfolio</dc:title>
  <dc:subject>Professional design portfolio</dc:subject>
  <dc:creator>Mohiddin Moghal</dc:creator>
  <cp:lastModifiedBy>Mohiddin Moghal</cp:lastModifiedBy>
  <cp:revision>1</cp:revision>
  <dcterms:created xsi:type="dcterms:W3CDTF">2026-04-24T06:48:21Z</dcterms:created>
  <dcterms:modified xsi:type="dcterms:W3CDTF">2026-04-24T06:48:21Z</dcterms:modified>
</cp:coreProperties>
</file>